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FA876-CBCC-4983-A3B1-B58817CC2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4" y="2747193"/>
            <a:ext cx="8361229" cy="1363613"/>
          </a:xfrm>
        </p:spPr>
        <p:txBody>
          <a:bodyPr/>
          <a:lstStyle/>
          <a:p>
            <a:r>
              <a:rPr lang="pt-BR" sz="4800" dirty="0"/>
              <a:t>Trabalho Final</a:t>
            </a:r>
            <a:br>
              <a:rPr lang="pt-BR" sz="4800" dirty="0"/>
            </a:br>
            <a:r>
              <a:rPr lang="pt-BR" sz="4800" dirty="0"/>
              <a:t>inteligência computacional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04315C-A624-4F1A-A95D-CFB860F41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61" y="4297772"/>
            <a:ext cx="6831673" cy="835854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Eduardo Kurek</a:t>
            </a:r>
          </a:p>
          <a:p>
            <a:r>
              <a:rPr lang="pt-BR" dirty="0"/>
              <a:t>Vinícius Kurek</a:t>
            </a:r>
          </a:p>
        </p:txBody>
      </p:sp>
    </p:spTree>
    <p:extLst>
      <p:ext uri="{BB962C8B-B14F-4D97-AF65-F5344CB8AC3E}">
        <p14:creationId xmlns:p14="http://schemas.microsoft.com/office/powerpoint/2010/main" val="68251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6D7E5-76EC-4104-8EF5-FBE44F96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29685"/>
            <a:ext cx="9601200" cy="762000"/>
          </a:xfrm>
        </p:spPr>
        <p:txBody>
          <a:bodyPr/>
          <a:lstStyle/>
          <a:p>
            <a:pPr algn="ctr"/>
            <a:r>
              <a:rPr lang="pt-BR" dirty="0"/>
              <a:t>DATASET: SIMPSONS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8E6CB06D-4752-4DD5-AE79-7B31ECEFF652}"/>
              </a:ext>
            </a:extLst>
          </p:cNvPr>
          <p:cNvSpPr txBox="1">
            <a:spLocks/>
          </p:cNvSpPr>
          <p:nvPr/>
        </p:nvSpPr>
        <p:spPr>
          <a:xfrm>
            <a:off x="1103274" y="1156199"/>
            <a:ext cx="1820333" cy="550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Franklin Gothic Book" panose="020B0503020102020204" pitchFamily="34" charset="0"/>
              <a:buNone/>
            </a:pPr>
            <a:r>
              <a:rPr lang="pt-BR" sz="2800" dirty="0"/>
              <a:t>Bart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5F8B051-CE58-4596-8556-20A8E1232A0F}"/>
              </a:ext>
            </a:extLst>
          </p:cNvPr>
          <p:cNvSpPr txBox="1">
            <a:spLocks/>
          </p:cNvSpPr>
          <p:nvPr/>
        </p:nvSpPr>
        <p:spPr>
          <a:xfrm>
            <a:off x="3329518" y="1159427"/>
            <a:ext cx="1820333" cy="550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Franklin Gothic Book" panose="020B0503020102020204" pitchFamily="34" charset="0"/>
              <a:buNone/>
            </a:pPr>
            <a:r>
              <a:rPr lang="pt-BR" sz="2800" dirty="0"/>
              <a:t>Homer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B6336DF-99D9-486F-BFC6-AB887F7AD164}"/>
              </a:ext>
            </a:extLst>
          </p:cNvPr>
          <p:cNvSpPr txBox="1">
            <a:spLocks/>
          </p:cNvSpPr>
          <p:nvPr/>
        </p:nvSpPr>
        <p:spPr>
          <a:xfrm>
            <a:off x="5295307" y="1171584"/>
            <a:ext cx="1820333" cy="550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Franklin Gothic Book" panose="020B0503020102020204" pitchFamily="34" charset="0"/>
              <a:buNone/>
            </a:pPr>
            <a:r>
              <a:rPr lang="pt-BR" sz="2800" dirty="0"/>
              <a:t>Lisa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B9B7B2D7-F1B9-4E3A-8179-05561B7EA017}"/>
              </a:ext>
            </a:extLst>
          </p:cNvPr>
          <p:cNvSpPr txBox="1">
            <a:spLocks/>
          </p:cNvSpPr>
          <p:nvPr/>
        </p:nvSpPr>
        <p:spPr>
          <a:xfrm>
            <a:off x="7261096" y="1156067"/>
            <a:ext cx="1820333" cy="550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Franklin Gothic Book" panose="020B0503020102020204" pitchFamily="34" charset="0"/>
              <a:buNone/>
            </a:pPr>
            <a:r>
              <a:rPr lang="pt-BR" sz="2800" dirty="0"/>
              <a:t>Maggie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32F41B5E-C6D9-4103-9387-CC52C84AA45F}"/>
              </a:ext>
            </a:extLst>
          </p:cNvPr>
          <p:cNvSpPr txBox="1">
            <a:spLocks/>
          </p:cNvSpPr>
          <p:nvPr/>
        </p:nvSpPr>
        <p:spPr>
          <a:xfrm>
            <a:off x="9372341" y="1191685"/>
            <a:ext cx="1820333" cy="550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Franklin Gothic Book" panose="020B0503020102020204" pitchFamily="34" charset="0"/>
              <a:buNone/>
            </a:pPr>
            <a:r>
              <a:rPr lang="pt-BR" sz="2800" dirty="0"/>
              <a:t>Marge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2F852E8-1193-470C-9FA0-724D663B2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631" y="1671045"/>
            <a:ext cx="1580019" cy="158650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AE80CAC-C982-459A-8AD6-52DA63404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885" y="3357666"/>
            <a:ext cx="1967515" cy="145514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0C2CAB1A-6657-47BC-BCFF-80F679E0E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422" y="4912920"/>
            <a:ext cx="960438" cy="158171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C3DC037-A800-4D74-A65B-1B5017ADA7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3901" y="1742018"/>
            <a:ext cx="1885950" cy="1288959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02C646EB-6A59-4D28-AEC0-45032D1F1C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411" y="3188029"/>
            <a:ext cx="1471083" cy="1624778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F7D7FA71-44D9-4550-B6EF-474550567F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1334" y="4912920"/>
            <a:ext cx="1294418" cy="1657574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3A025BA-6ACA-4F21-A114-9FD1FC0F0E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3618" y="1795564"/>
            <a:ext cx="1141097" cy="1390712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A69417AE-2373-40C4-ABA3-B2F929104C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1947" y="3410471"/>
            <a:ext cx="1820333" cy="1207168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A619418E-5A84-49FE-A2EF-70A0E2E57B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3865" y="4887073"/>
            <a:ext cx="1800604" cy="1581400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EC32EC91-60DA-4B77-8877-833E9E2060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5777" y="1726517"/>
            <a:ext cx="874534" cy="1726053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8149A746-B2D7-464C-B3E8-0166D262F7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54480" y="3504216"/>
            <a:ext cx="1471082" cy="1542552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D691967E-662A-4794-BFA9-FDFB227BCDD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61535" y="5180867"/>
            <a:ext cx="1471081" cy="1471081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4AB6146D-AF16-45B3-BDE5-EF50EF04AA5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80621" y="1706400"/>
            <a:ext cx="1412183" cy="1676967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BA8CC808-F960-4590-AA31-3749A6C02F2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95205" y="3432453"/>
            <a:ext cx="2017473" cy="1500717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80ED6CD3-7290-4E03-9D93-D3F12B6CAA1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80621" y="5170143"/>
            <a:ext cx="1712965" cy="136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68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250B9A4-66E3-48E7-A1D2-C4BC7EB5C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109311"/>
              </p:ext>
            </p:extLst>
          </p:nvPr>
        </p:nvGraphicFramePr>
        <p:xfrm>
          <a:off x="1621363" y="1650998"/>
          <a:ext cx="8949269" cy="22606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5527">
                  <a:extLst>
                    <a:ext uri="{9D8B030D-6E8A-4147-A177-3AD203B41FA5}">
                      <a16:colId xmlns:a16="http://schemas.microsoft.com/office/drawing/2014/main" val="1404190309"/>
                    </a:ext>
                  </a:extLst>
                </a:gridCol>
                <a:gridCol w="1317562">
                  <a:extLst>
                    <a:ext uri="{9D8B030D-6E8A-4147-A177-3AD203B41FA5}">
                      <a16:colId xmlns:a16="http://schemas.microsoft.com/office/drawing/2014/main" val="422054341"/>
                    </a:ext>
                  </a:extLst>
                </a:gridCol>
                <a:gridCol w="1491545">
                  <a:extLst>
                    <a:ext uri="{9D8B030D-6E8A-4147-A177-3AD203B41FA5}">
                      <a16:colId xmlns:a16="http://schemas.microsoft.com/office/drawing/2014/main" val="3820738699"/>
                    </a:ext>
                  </a:extLst>
                </a:gridCol>
                <a:gridCol w="1491545">
                  <a:extLst>
                    <a:ext uri="{9D8B030D-6E8A-4147-A177-3AD203B41FA5}">
                      <a16:colId xmlns:a16="http://schemas.microsoft.com/office/drawing/2014/main" val="3614534046"/>
                    </a:ext>
                  </a:extLst>
                </a:gridCol>
                <a:gridCol w="1491545">
                  <a:extLst>
                    <a:ext uri="{9D8B030D-6E8A-4147-A177-3AD203B41FA5}">
                      <a16:colId xmlns:a16="http://schemas.microsoft.com/office/drawing/2014/main" val="1069638254"/>
                    </a:ext>
                  </a:extLst>
                </a:gridCol>
                <a:gridCol w="1491545">
                  <a:extLst>
                    <a:ext uri="{9D8B030D-6E8A-4147-A177-3AD203B41FA5}">
                      <a16:colId xmlns:a16="http://schemas.microsoft.com/office/drawing/2014/main" val="3543784140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 dirty="0">
                          <a:effectLst/>
                        </a:rPr>
                        <a:t> </a:t>
                      </a:r>
                      <a:endParaRPr lang="pt-BR" sz="1200" b="1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>
                          <a:effectLst/>
                        </a:rPr>
                        <a:t>BART</a:t>
                      </a:r>
                      <a:endParaRPr lang="pt-BR" sz="1200" b="1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 dirty="0">
                          <a:effectLst/>
                        </a:rPr>
                        <a:t>HOMER</a:t>
                      </a:r>
                      <a:endParaRPr lang="pt-BR" sz="1200" b="1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>
                          <a:effectLst/>
                        </a:rPr>
                        <a:t>LISA</a:t>
                      </a:r>
                      <a:endParaRPr lang="pt-BR" sz="1200" b="1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>
                          <a:effectLst/>
                        </a:rPr>
                        <a:t>MAGGIE</a:t>
                      </a:r>
                      <a:endParaRPr lang="pt-BR" sz="1200" b="1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>
                          <a:effectLst/>
                        </a:rPr>
                        <a:t>MARGE</a:t>
                      </a:r>
                      <a:endParaRPr lang="pt-BR" sz="1200" b="1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34028974"/>
                  </a:ext>
                </a:extLst>
              </a:tr>
              <a:tr h="90424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>
                          <a:effectLst/>
                        </a:rPr>
                        <a:t>TREINAMENTO</a:t>
                      </a:r>
                      <a:endParaRPr lang="pt-BR" sz="1200" b="1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 dirty="0">
                          <a:effectLst/>
                        </a:rPr>
                        <a:t>78</a:t>
                      </a:r>
                      <a:endParaRPr lang="pt-BR" sz="1200" b="1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 dirty="0">
                          <a:effectLst/>
                        </a:rPr>
                        <a:t>61</a:t>
                      </a:r>
                      <a:endParaRPr lang="pt-BR" sz="1200" b="1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 dirty="0">
                          <a:effectLst/>
                        </a:rPr>
                        <a:t>33</a:t>
                      </a:r>
                      <a:endParaRPr lang="pt-BR" sz="1200" b="1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>
                          <a:effectLst/>
                        </a:rPr>
                        <a:t>30</a:t>
                      </a:r>
                      <a:endParaRPr lang="pt-BR" sz="1200" b="1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>
                          <a:effectLst/>
                        </a:rPr>
                        <a:t>24</a:t>
                      </a:r>
                      <a:endParaRPr lang="pt-BR" sz="1200" b="1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3865207"/>
                  </a:ext>
                </a:extLst>
              </a:tr>
              <a:tr h="90424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>
                          <a:effectLst/>
                        </a:rPr>
                        <a:t>VALIDAÇÃO</a:t>
                      </a:r>
                      <a:endParaRPr lang="pt-BR" sz="1200" b="1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>
                          <a:effectLst/>
                        </a:rPr>
                        <a:t>35</a:t>
                      </a:r>
                      <a:endParaRPr lang="pt-BR" sz="1200" b="1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>
                          <a:effectLst/>
                        </a:rPr>
                        <a:t>25</a:t>
                      </a:r>
                      <a:endParaRPr lang="pt-BR" sz="1200" b="1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 dirty="0">
                          <a:effectLst/>
                        </a:rPr>
                        <a:t>13</a:t>
                      </a:r>
                      <a:endParaRPr lang="pt-BR" sz="1200" b="1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>
                          <a:effectLst/>
                        </a:rPr>
                        <a:t>12</a:t>
                      </a:r>
                      <a:endParaRPr lang="pt-BR" sz="1200" b="1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 dirty="0">
                          <a:effectLst/>
                        </a:rPr>
                        <a:t>10</a:t>
                      </a:r>
                      <a:endParaRPr lang="pt-BR" sz="1200" b="1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8866317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F1A34C36-F054-4707-963B-A35801F798A0}"/>
              </a:ext>
            </a:extLst>
          </p:cNvPr>
          <p:cNvSpPr txBox="1"/>
          <p:nvPr/>
        </p:nvSpPr>
        <p:spPr>
          <a:xfrm>
            <a:off x="2114544" y="694267"/>
            <a:ext cx="7962904" cy="694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lnSpc>
                <a:spcPct val="89000"/>
              </a:lnSpc>
              <a:spcBef>
                <a:spcPct val="0"/>
              </a:spcBef>
            </a:pPr>
            <a:r>
              <a:rPr lang="pt-BR" sz="4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DISTRIBUIÇÃO DAS AMOSTRAS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E8911AF9-52D4-43BA-A9C4-D4F10041A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230" y="4686301"/>
            <a:ext cx="9643533" cy="1041401"/>
          </a:xfrm>
        </p:spPr>
        <p:txBody>
          <a:bodyPr/>
          <a:lstStyle/>
          <a:p>
            <a:r>
              <a:rPr lang="pt-BR" dirty="0"/>
              <a:t>Problema desbalanceado;</a:t>
            </a:r>
          </a:p>
          <a:p>
            <a:r>
              <a:rPr lang="pt-BR" dirty="0"/>
              <a:t>Utilizamos a média ponderada do F1 Score como métrica;</a:t>
            </a:r>
          </a:p>
        </p:txBody>
      </p:sp>
    </p:spTree>
    <p:extLst>
      <p:ext uri="{BB962C8B-B14F-4D97-AF65-F5344CB8AC3E}">
        <p14:creationId xmlns:p14="http://schemas.microsoft.com/office/powerpoint/2010/main" val="2992522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DDFBC-763B-4C3B-8EA9-C9342CE9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8133"/>
          </a:xfrm>
        </p:spPr>
        <p:txBody>
          <a:bodyPr/>
          <a:lstStyle/>
          <a:p>
            <a:pPr algn="ctr"/>
            <a:r>
              <a:rPr lang="pt-BR" dirty="0"/>
              <a:t>BASELINE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2A73E8-9E38-428C-8406-AFD758B72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81667"/>
            <a:ext cx="9601200" cy="4385733"/>
          </a:xfrm>
        </p:spPr>
        <p:txBody>
          <a:bodyPr/>
          <a:lstStyle/>
          <a:p>
            <a:r>
              <a:rPr lang="pt-BR" dirty="0"/>
              <a:t>Modelo de base para extração de </a:t>
            </a:r>
            <a:r>
              <a:rPr lang="pt-BR" dirty="0" err="1"/>
              <a:t>features</a:t>
            </a:r>
            <a:r>
              <a:rPr lang="pt-BR" dirty="0"/>
              <a:t>;</a:t>
            </a:r>
          </a:p>
          <a:p>
            <a:r>
              <a:rPr lang="pt-BR" dirty="0" err="1"/>
              <a:t>Random</a:t>
            </a:r>
            <a:r>
              <a:rPr lang="pt-BR" dirty="0"/>
              <a:t> Forest com alguns parâmetros fixos: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pt-B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n_estimators</a:t>
            </a:r>
            <a:r>
              <a:rPr lang="pt-BR" dirty="0">
                <a:latin typeface="Cascadia Code" panose="020B0609020000020004" pitchFamily="49" charset="0"/>
                <a:cs typeface="Cascadia Code" panose="020B0609020000020004" pitchFamily="49" charset="0"/>
              </a:rPr>
              <a:t>': 200,</a:t>
            </a:r>
          </a:p>
          <a:p>
            <a:pPr marL="0" indent="0">
              <a:buNone/>
            </a:pPr>
            <a:r>
              <a:rPr lang="pt-BR" dirty="0"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pt-B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max_depth</a:t>
            </a:r>
            <a:r>
              <a:rPr lang="pt-BR" dirty="0">
                <a:latin typeface="Cascadia Code" panose="020B0609020000020004" pitchFamily="49" charset="0"/>
                <a:cs typeface="Cascadia Code" panose="020B0609020000020004" pitchFamily="49" charset="0"/>
              </a:rPr>
              <a:t>': </a:t>
            </a:r>
            <a:r>
              <a:rPr lang="pt-B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None</a:t>
            </a:r>
            <a:r>
              <a:rPr lang="pt-BR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</a:p>
          <a:p>
            <a:pPr marL="0" indent="0">
              <a:buNone/>
            </a:pPr>
            <a:r>
              <a:rPr lang="pt-BR" dirty="0"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pt-B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max_features</a:t>
            </a:r>
            <a:r>
              <a:rPr lang="pt-BR" dirty="0">
                <a:latin typeface="Cascadia Code" panose="020B0609020000020004" pitchFamily="49" charset="0"/>
                <a:cs typeface="Cascadia Code" panose="020B0609020000020004" pitchFamily="49" charset="0"/>
              </a:rPr>
              <a:t>': 0.5,</a:t>
            </a:r>
          </a:p>
          <a:p>
            <a:pPr marL="0" indent="0">
              <a:buNone/>
            </a:pPr>
            <a:r>
              <a:rPr lang="pt-BR" dirty="0"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pt-B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class_weight</a:t>
            </a:r>
            <a:r>
              <a:rPr lang="pt-BR" dirty="0">
                <a:latin typeface="Cascadia Code" panose="020B0609020000020004" pitchFamily="49" charset="0"/>
                <a:cs typeface="Cascadia Code" panose="020B0609020000020004" pitchFamily="49" charset="0"/>
              </a:rPr>
              <a:t>': '</a:t>
            </a:r>
            <a:r>
              <a:rPr lang="pt-B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balanced</a:t>
            </a:r>
            <a:r>
              <a:rPr lang="pt-BR" dirty="0"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635073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95E41-FE1F-4763-952E-2CDE0473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8933"/>
          </a:xfrm>
        </p:spPr>
        <p:txBody>
          <a:bodyPr/>
          <a:lstStyle/>
          <a:p>
            <a:r>
              <a:rPr lang="pt-BR" dirty="0"/>
              <a:t>EXTRAÇÃO DE CARACTERÍSTICAS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CDE035-08DA-4B13-BFF8-094B1E390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64733"/>
            <a:ext cx="9601200" cy="4893734"/>
          </a:xfrm>
        </p:spPr>
        <p:txBody>
          <a:bodyPr>
            <a:normAutofit/>
          </a:bodyPr>
          <a:lstStyle/>
          <a:p>
            <a:r>
              <a:rPr lang="pt-BR" dirty="0">
                <a:latin typeface="Franklin Gothic Book (Corpo)"/>
              </a:rPr>
              <a:t>Globais e regionais;</a:t>
            </a:r>
          </a:p>
          <a:p>
            <a:r>
              <a:rPr lang="pt-BR" i="0" dirty="0">
                <a:latin typeface="Franklin Gothic Book (Corpo)"/>
              </a:rPr>
              <a:t>Regionais foram extraídas cortando a imagem no meio horizontalmente;</a:t>
            </a:r>
            <a:endParaRPr lang="pt-BR" dirty="0"/>
          </a:p>
          <a:p>
            <a:r>
              <a:rPr lang="pt-BR" dirty="0"/>
              <a:t>Globais:</a:t>
            </a:r>
          </a:p>
          <a:p>
            <a:pPr lvl="1"/>
            <a:r>
              <a:rPr lang="pt-BR" sz="1800" b="1" i="0" dirty="0">
                <a:effectLst/>
                <a:latin typeface="Franklin Gothic Book (Corpo)"/>
                <a:ea typeface="Times New Roman" panose="02020603050405020304" pitchFamily="18" charset="0"/>
                <a:cs typeface="Times New Roman" panose="02020603050405020304" pitchFamily="18" charset="0"/>
              </a:rPr>
              <a:t>Momentos de HU: </a:t>
            </a:r>
            <a:r>
              <a:rPr lang="pt-BR" sz="1800" i="0" dirty="0">
                <a:effectLst/>
                <a:latin typeface="Franklin Gothic Book (Corpo)"/>
                <a:ea typeface="Times New Roman" panose="02020603050405020304" pitchFamily="18" charset="0"/>
                <a:cs typeface="Times New Roman" panose="02020603050405020304" pitchFamily="18" charset="0"/>
              </a:rPr>
              <a:t>Simetria, medida de dispersão, alongamento, entre outros... </a:t>
            </a:r>
            <a:r>
              <a:rPr lang="pt-BR" sz="1800" b="1" i="0" dirty="0">
                <a:effectLst/>
                <a:latin typeface="Franklin Gothic Book (Corpo)"/>
                <a:ea typeface="Times New Roman" panose="02020603050405020304" pitchFamily="18" charset="0"/>
                <a:cs typeface="Times New Roman" panose="02020603050405020304" pitchFamily="18" charset="0"/>
              </a:rPr>
              <a:t>39,34% </a:t>
            </a:r>
            <a:r>
              <a:rPr lang="pt-BR" sz="1800" i="0" dirty="0">
                <a:effectLst/>
                <a:latin typeface="Franklin Gothic Book (Corpo)"/>
                <a:ea typeface="Times New Roman" panose="02020603050405020304" pitchFamily="18" charset="0"/>
                <a:cs typeface="Times New Roman" panose="02020603050405020304" pitchFamily="18" charset="0"/>
              </a:rPr>
              <a:t> de acerto;</a:t>
            </a:r>
          </a:p>
          <a:p>
            <a:pPr lvl="1"/>
            <a:r>
              <a:rPr lang="pt-BR" sz="2000" b="1" i="0" dirty="0" err="1">
                <a:effectLst/>
                <a:latin typeface="Franklin Gothic Book (Corpo)"/>
                <a:ea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pt-BR" sz="2000" b="1" i="0" dirty="0">
                <a:effectLst/>
                <a:latin typeface="Franklin Gothic Book (Corpo)"/>
                <a:ea typeface="Times New Roman" panose="02020603050405020304" pitchFamily="18" charset="0"/>
                <a:cs typeface="Times New Roman" panose="02020603050405020304" pitchFamily="18" charset="0"/>
              </a:rPr>
              <a:t> 161: </a:t>
            </a:r>
            <a:r>
              <a:rPr lang="pt-BR" sz="2000" i="0" dirty="0">
                <a:effectLst/>
                <a:latin typeface="Franklin Gothic Book (Corpo)"/>
                <a:ea typeface="Times New Roman" panose="02020603050405020304" pitchFamily="18" charset="0"/>
                <a:cs typeface="Times New Roman" panose="02020603050405020304" pitchFamily="18" charset="0"/>
              </a:rPr>
              <a:t>Rede neural treinada para extração de características, retorna um vetor com 2208 características. </a:t>
            </a:r>
            <a:r>
              <a:rPr lang="pt-BR" b="1" i="0" dirty="0">
                <a:latin typeface="Franklin Gothic Book (Corpo)"/>
                <a:ea typeface="Times New Roman" panose="02020603050405020304" pitchFamily="18" charset="0"/>
                <a:cs typeface="Times New Roman" panose="02020603050405020304" pitchFamily="18" charset="0"/>
              </a:rPr>
              <a:t>65</a:t>
            </a:r>
            <a:r>
              <a:rPr lang="pt-BR" sz="2000" b="1" i="0" dirty="0">
                <a:effectLst/>
                <a:latin typeface="Franklin Gothic Book (Corpo)"/>
                <a:ea typeface="Times New Roman" panose="02020603050405020304" pitchFamily="18" charset="0"/>
                <a:cs typeface="Times New Roman" panose="02020603050405020304" pitchFamily="18" charset="0"/>
              </a:rPr>
              <a:t>,40% </a:t>
            </a:r>
            <a:r>
              <a:rPr lang="pt-BR" sz="2000" i="0" dirty="0">
                <a:effectLst/>
                <a:latin typeface="Franklin Gothic Book (Corpo)"/>
                <a:ea typeface="Times New Roman" panose="02020603050405020304" pitchFamily="18" charset="0"/>
                <a:cs typeface="Times New Roman" panose="02020603050405020304" pitchFamily="18" charset="0"/>
              </a:rPr>
              <a:t> de acerto;</a:t>
            </a:r>
          </a:p>
          <a:p>
            <a:r>
              <a:rPr lang="pt-BR" i="0" dirty="0">
                <a:latin typeface="Franklin Gothic Book (Corpo)"/>
              </a:rPr>
              <a:t>Regionais:</a:t>
            </a:r>
          </a:p>
          <a:p>
            <a:pPr lvl="1"/>
            <a:r>
              <a:rPr lang="pt-BR" b="1" i="0" dirty="0">
                <a:latin typeface="Franklin Gothic Book (Corpo)"/>
              </a:rPr>
              <a:t>GLCM:</a:t>
            </a:r>
            <a:r>
              <a:rPr lang="pt-BR" i="0" dirty="0">
                <a:latin typeface="Franklin Gothic Book (Corpo)"/>
              </a:rPr>
              <a:t> Padrão de textura entre os pixels. </a:t>
            </a:r>
            <a:r>
              <a:rPr lang="pt-BR" b="1" i="0" dirty="0">
                <a:latin typeface="Franklin Gothic Book (Corpo)"/>
              </a:rPr>
              <a:t>36,10%</a:t>
            </a:r>
            <a:r>
              <a:rPr lang="pt-BR" i="0" dirty="0">
                <a:latin typeface="Franklin Gothic Book (Corpo)"/>
              </a:rPr>
              <a:t> de taxa de acerto.</a:t>
            </a:r>
          </a:p>
          <a:p>
            <a:pPr lvl="1"/>
            <a:r>
              <a:rPr lang="pt-BR" b="1" i="0" dirty="0">
                <a:latin typeface="Franklin Gothic Book (Corpo)"/>
              </a:rPr>
              <a:t>HOG:</a:t>
            </a:r>
            <a:r>
              <a:rPr lang="pt-BR" i="0" dirty="0">
                <a:latin typeface="Franklin Gothic Book (Corpo)"/>
              </a:rPr>
              <a:t> Bordas, ângulos, contornos e silhuetas. </a:t>
            </a:r>
            <a:r>
              <a:rPr lang="pt-BR" b="1" i="0" dirty="0">
                <a:latin typeface="Franklin Gothic Book (Corpo)"/>
              </a:rPr>
              <a:t>39,61%</a:t>
            </a:r>
            <a:r>
              <a:rPr lang="pt-BR" i="0" dirty="0">
                <a:latin typeface="Franklin Gothic Book (Corpo)"/>
              </a:rPr>
              <a:t> de taxa de acerto.</a:t>
            </a:r>
          </a:p>
          <a:p>
            <a:pPr lvl="1"/>
            <a:r>
              <a:rPr lang="pt-BR" b="1" i="0" dirty="0">
                <a:latin typeface="Franklin Gothic Book (Corpo)"/>
              </a:rPr>
              <a:t>LBP:</a:t>
            </a:r>
            <a:r>
              <a:rPr lang="pt-BR" i="0" dirty="0">
                <a:latin typeface="Franklin Gothic Book (Corpo)"/>
              </a:rPr>
              <a:t> Granulação dos pixels, cantos, rugosidade, transições de brilho. </a:t>
            </a:r>
            <a:r>
              <a:rPr lang="pt-BR" b="1" i="0" dirty="0">
                <a:latin typeface="Franklin Gothic Book (Corpo)"/>
              </a:rPr>
              <a:t>41,40%</a:t>
            </a:r>
            <a:r>
              <a:rPr lang="pt-BR" i="0" dirty="0">
                <a:latin typeface="Franklin Gothic Book (Corpo)"/>
              </a:rPr>
              <a:t> de acerto.</a:t>
            </a:r>
          </a:p>
          <a:p>
            <a:pPr lvl="1"/>
            <a:r>
              <a:rPr lang="pt-BR" b="1" i="0" dirty="0">
                <a:latin typeface="Franklin Gothic Book (Corpo)"/>
              </a:rPr>
              <a:t>HSV: </a:t>
            </a:r>
            <a:r>
              <a:rPr lang="pt-BR" i="0" dirty="0">
                <a:latin typeface="Franklin Gothic Book (Corpo)"/>
              </a:rPr>
              <a:t>Matiz e intensidade. </a:t>
            </a:r>
            <a:r>
              <a:rPr lang="pt-BR" b="1" i="0" dirty="0">
                <a:latin typeface="Franklin Gothic Book (Corpo)"/>
              </a:rPr>
              <a:t>72,79%</a:t>
            </a:r>
            <a:r>
              <a:rPr lang="pt-BR" i="0" dirty="0">
                <a:latin typeface="Franklin Gothic Book (Corpo)"/>
              </a:rPr>
              <a:t> de acerto.</a:t>
            </a:r>
          </a:p>
        </p:txBody>
      </p:sp>
    </p:spTree>
    <p:extLst>
      <p:ext uri="{BB962C8B-B14F-4D97-AF65-F5344CB8AC3E}">
        <p14:creationId xmlns:p14="http://schemas.microsoft.com/office/powerpoint/2010/main" val="2569241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95E41-FE1F-4763-952E-2CDE0473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8933"/>
          </a:xfrm>
        </p:spPr>
        <p:txBody>
          <a:bodyPr/>
          <a:lstStyle/>
          <a:p>
            <a:r>
              <a:rPr lang="pt-BR" dirty="0"/>
              <a:t>EXTRAÇÃO DE CARACTERÍSTICAS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CDE035-08DA-4B13-BFF8-094B1E390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64733"/>
            <a:ext cx="9601200" cy="4893734"/>
          </a:xfrm>
        </p:spPr>
        <p:txBody>
          <a:bodyPr>
            <a:normAutofit/>
          </a:bodyPr>
          <a:lstStyle/>
          <a:p>
            <a:r>
              <a:rPr lang="pt-BR" i="0" dirty="0">
                <a:latin typeface="Franklin Gothic Book (Corpo)"/>
              </a:rPr>
              <a:t>Algumas características pioravam o resultado;</a:t>
            </a:r>
          </a:p>
          <a:p>
            <a:r>
              <a:rPr lang="pt-BR" dirty="0">
                <a:latin typeface="Franklin Gothic Book (Corpo)"/>
              </a:rPr>
              <a:t>Textura e sombras não eram tão importantes nesse </a:t>
            </a:r>
            <a:r>
              <a:rPr lang="pt-BR" dirty="0" err="1">
                <a:latin typeface="Franklin Gothic Book (Corpo)"/>
              </a:rPr>
              <a:t>dataset</a:t>
            </a:r>
            <a:r>
              <a:rPr lang="pt-BR" dirty="0">
                <a:latin typeface="Franklin Gothic Book (Corpo)"/>
              </a:rPr>
              <a:t>;</a:t>
            </a:r>
          </a:p>
          <a:p>
            <a:r>
              <a:rPr lang="pt-BR" i="0" dirty="0">
                <a:latin typeface="Franklin Gothic Book (Corpo)"/>
              </a:rPr>
              <a:t>HSV foi a </a:t>
            </a:r>
            <a:r>
              <a:rPr lang="pt-BR" i="0" dirty="0" err="1">
                <a:latin typeface="Franklin Gothic Book (Corpo)"/>
              </a:rPr>
              <a:t>feature</a:t>
            </a:r>
            <a:r>
              <a:rPr lang="pt-BR" i="0" dirty="0">
                <a:latin typeface="Franklin Gothic Book (Corpo)"/>
              </a:rPr>
              <a:t> que teve melhor resultado;</a:t>
            </a:r>
          </a:p>
          <a:p>
            <a:r>
              <a:rPr lang="pt-BR" i="0" dirty="0">
                <a:latin typeface="Franklin Gothic Book (Corpo)"/>
              </a:rPr>
              <a:t>Testamos com vários parâmetros nas </a:t>
            </a:r>
            <a:r>
              <a:rPr lang="pt-BR" i="0" dirty="0" err="1">
                <a:latin typeface="Franklin Gothic Book (Corpo)"/>
              </a:rPr>
              <a:t>features</a:t>
            </a:r>
            <a:r>
              <a:rPr lang="pt-BR" dirty="0">
                <a:latin typeface="Franklin Gothic Book (Corpo)"/>
              </a:rPr>
              <a:t>, e empiricamente selecionamos os que tinham melhores resultados;</a:t>
            </a:r>
          </a:p>
          <a:p>
            <a:r>
              <a:rPr lang="pt-BR" i="0" dirty="0" err="1">
                <a:latin typeface="Franklin Gothic Book (Corpo)"/>
              </a:rPr>
              <a:t>Features</a:t>
            </a:r>
            <a:r>
              <a:rPr lang="pt-BR" i="0" dirty="0">
                <a:latin typeface="Franklin Gothic Book (Corpo)"/>
              </a:rPr>
              <a:t> escolhidas para prosseguir no treinamento: </a:t>
            </a:r>
            <a:r>
              <a:rPr lang="pt-BR" b="1" i="0" dirty="0">
                <a:latin typeface="Franklin Gothic Book (Corpo)"/>
              </a:rPr>
              <a:t>HSV</a:t>
            </a:r>
            <a:r>
              <a:rPr lang="pt-BR" i="0" dirty="0">
                <a:latin typeface="Franklin Gothic Book (Corpo)"/>
              </a:rPr>
              <a:t> e </a:t>
            </a:r>
            <a:r>
              <a:rPr lang="pt-BR" b="1" i="0" dirty="0" err="1">
                <a:latin typeface="Franklin Gothic Book (Corpo)"/>
              </a:rPr>
              <a:t>Densenet</a:t>
            </a:r>
            <a:r>
              <a:rPr lang="pt-BR" b="1" i="0" dirty="0">
                <a:latin typeface="Franklin Gothic Book (Corpo)"/>
              </a:rPr>
              <a:t> 161;</a:t>
            </a:r>
          </a:p>
          <a:p>
            <a:endParaRPr lang="pt-BR" b="1" i="0" dirty="0">
              <a:latin typeface="Franklin Gothic Book (Corpo)"/>
            </a:endParaRPr>
          </a:p>
        </p:txBody>
      </p:sp>
    </p:spTree>
    <p:extLst>
      <p:ext uri="{BB962C8B-B14F-4D97-AF65-F5344CB8AC3E}">
        <p14:creationId xmlns:p14="http://schemas.microsoft.com/office/powerpoint/2010/main" val="1913078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95E41-FE1F-4763-952E-2CDE0473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8933"/>
          </a:xfrm>
        </p:spPr>
        <p:txBody>
          <a:bodyPr/>
          <a:lstStyle/>
          <a:p>
            <a:r>
              <a:rPr lang="pt-BR" dirty="0"/>
              <a:t>TREINAMENTO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CDE035-08DA-4B13-BFF8-094B1E390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64733"/>
            <a:ext cx="9601200" cy="4893734"/>
          </a:xfrm>
        </p:spPr>
        <p:txBody>
          <a:bodyPr>
            <a:normAutofit/>
          </a:bodyPr>
          <a:lstStyle/>
          <a:p>
            <a:r>
              <a:rPr lang="pt-BR" dirty="0">
                <a:latin typeface="Franklin Gothic Book (Corpo)"/>
              </a:rPr>
              <a:t>4 modelos diferentes utilizados: KNN, MLP, RF e SVM;</a:t>
            </a:r>
          </a:p>
          <a:p>
            <a:r>
              <a:rPr lang="pt-BR" dirty="0">
                <a:latin typeface="Franklin Gothic Book (Corpo)"/>
              </a:rPr>
              <a:t>MLP e SVM (</a:t>
            </a:r>
            <a:r>
              <a:rPr lang="pt-BR" dirty="0" err="1">
                <a:latin typeface="Franklin Gothic Book (Corpo)"/>
              </a:rPr>
              <a:t>probability</a:t>
            </a:r>
            <a:r>
              <a:rPr lang="pt-BR" dirty="0">
                <a:latin typeface="Franklin Gothic Book (Corpo)"/>
              </a:rPr>
              <a:t> = </a:t>
            </a:r>
            <a:r>
              <a:rPr lang="pt-BR" dirty="0" err="1">
                <a:latin typeface="Franklin Gothic Book (Corpo)"/>
              </a:rPr>
              <a:t>true</a:t>
            </a:r>
            <a:r>
              <a:rPr lang="pt-BR" dirty="0">
                <a:latin typeface="Franklin Gothic Book (Corpo)"/>
              </a:rPr>
              <a:t>) não são determinísticos;</a:t>
            </a:r>
          </a:p>
          <a:p>
            <a:r>
              <a:rPr lang="pt-BR" dirty="0">
                <a:latin typeface="Franklin Gothic Book (Corpo)"/>
              </a:rPr>
              <a:t>Cross </a:t>
            </a:r>
            <a:r>
              <a:rPr lang="pt-BR" dirty="0" err="1">
                <a:latin typeface="Franklin Gothic Book (Corpo)"/>
              </a:rPr>
              <a:t>Validation</a:t>
            </a:r>
            <a:r>
              <a:rPr lang="pt-BR" dirty="0">
                <a:latin typeface="Franklin Gothic Book (Corpo)"/>
              </a:rPr>
              <a:t> com 10 </a:t>
            </a:r>
            <a:r>
              <a:rPr lang="pt-BR" dirty="0" err="1">
                <a:latin typeface="Franklin Gothic Book (Corpo)"/>
              </a:rPr>
              <a:t>folds</a:t>
            </a:r>
            <a:r>
              <a:rPr lang="pt-BR" dirty="0">
                <a:latin typeface="Franklin Gothic Book (Corpo)"/>
              </a:rPr>
              <a:t>;</a:t>
            </a:r>
          </a:p>
          <a:p>
            <a:r>
              <a:rPr lang="pt-BR" dirty="0">
                <a:latin typeface="Franklin Gothic Book (Corpo)"/>
              </a:rPr>
              <a:t>Score do </a:t>
            </a:r>
            <a:r>
              <a:rPr lang="pt-BR" dirty="0" err="1">
                <a:latin typeface="Franklin Gothic Book (Corpo)"/>
              </a:rPr>
              <a:t>cross</a:t>
            </a:r>
            <a:r>
              <a:rPr lang="pt-BR" dirty="0">
                <a:latin typeface="Franklin Gothic Book (Corpo)"/>
              </a:rPr>
              <a:t> </a:t>
            </a:r>
            <a:r>
              <a:rPr lang="pt-BR" dirty="0" err="1">
                <a:latin typeface="Franklin Gothic Book (Corpo)"/>
              </a:rPr>
              <a:t>validation</a:t>
            </a:r>
            <a:r>
              <a:rPr lang="pt-BR" dirty="0">
                <a:latin typeface="Franklin Gothic Book (Corpo)"/>
              </a:rPr>
              <a:t> foi usado, não o dos testes;</a:t>
            </a:r>
          </a:p>
          <a:p>
            <a:r>
              <a:rPr lang="pt-BR" i="0" dirty="0">
                <a:latin typeface="Franklin Gothic Book (Corpo)"/>
              </a:rPr>
              <a:t>Top 5 de cada um dos modelos com diversos parâmetros: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D4EB2B3D-9EAA-4A38-BF29-E4851CC9A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300558"/>
              </p:ext>
            </p:extLst>
          </p:nvPr>
        </p:nvGraphicFramePr>
        <p:xfrm>
          <a:off x="2032000" y="35898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51686753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9972479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475185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361818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18114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SVM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5703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77,86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85,00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84,04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b="1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80,81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6902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77,74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83,98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84,04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80,74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33316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77,15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83,96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84,04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80,61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3277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76,94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83,61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83,83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79,98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519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76,64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83,36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83,83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tabLst>
                          <a:tab pos="457200" algn="l"/>
                        </a:tabLst>
                      </a:pPr>
                      <a:r>
                        <a:rPr lang="pt-BR" sz="1200" dirty="0">
                          <a:effectLst/>
                          <a:latin typeface="Times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79,98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9773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696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95E41-FE1F-4763-952E-2CDE0473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8933"/>
          </a:xfrm>
        </p:spPr>
        <p:txBody>
          <a:bodyPr/>
          <a:lstStyle/>
          <a:p>
            <a:r>
              <a:rPr lang="pt-BR" dirty="0"/>
              <a:t>TREINAMENTO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CDE035-08DA-4B13-BFF8-094B1E390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64732"/>
            <a:ext cx="4267200" cy="880535"/>
          </a:xfrm>
        </p:spPr>
        <p:txBody>
          <a:bodyPr>
            <a:normAutofit/>
          </a:bodyPr>
          <a:lstStyle/>
          <a:p>
            <a:r>
              <a:rPr lang="pt-BR" i="0" dirty="0">
                <a:latin typeface="Franklin Gothic Book (Corpo)"/>
              </a:rPr>
              <a:t>O melhor modelo foi o MLP com os seguintes parâmetros: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0CAED7-62AA-4309-AB26-41433A3354A9}"/>
              </a:ext>
            </a:extLst>
          </p:cNvPr>
          <p:cNvSpPr txBox="1"/>
          <p:nvPr/>
        </p:nvSpPr>
        <p:spPr>
          <a:xfrm>
            <a:off x="1063978" y="2810934"/>
            <a:ext cx="45748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pt-BR" sz="1600" i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activation</a:t>
            </a:r>
            <a:r>
              <a:rPr lang="pt-BR" sz="1600" i="0" dirty="0">
                <a:latin typeface="Cascadia Code" panose="020B0609020000020004" pitchFamily="49" charset="0"/>
                <a:cs typeface="Cascadia Code" panose="020B0609020000020004" pitchFamily="49" charset="0"/>
              </a:rPr>
              <a:t>': '</a:t>
            </a:r>
            <a:r>
              <a:rPr lang="pt-BR" sz="1600" i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tanh</a:t>
            </a:r>
            <a:r>
              <a:rPr lang="pt-BR" sz="1600" i="0" dirty="0">
                <a:latin typeface="Cascadia Code" panose="020B0609020000020004" pitchFamily="49" charset="0"/>
                <a:cs typeface="Cascadia Code" panose="020B0609020000020004" pitchFamily="49" charset="0"/>
              </a:rPr>
              <a:t>’, </a:t>
            </a:r>
          </a:p>
          <a:p>
            <a:r>
              <a:rPr lang="pt-BR" sz="1600" i="0" dirty="0">
                <a:latin typeface="Cascadia Code" panose="020B0609020000020004" pitchFamily="49" charset="0"/>
                <a:cs typeface="Cascadia Code" panose="020B0609020000020004" pitchFamily="49" charset="0"/>
              </a:rPr>
              <a:t>'alpha': 0.001,</a:t>
            </a:r>
          </a:p>
          <a:p>
            <a:r>
              <a:rPr lang="pt-BR" sz="1600" i="0" dirty="0"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pt-BR" sz="1600" i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hidden_layer_sizes</a:t>
            </a:r>
            <a:r>
              <a:rPr lang="pt-BR" sz="1600" i="0" dirty="0">
                <a:latin typeface="Cascadia Code" panose="020B0609020000020004" pitchFamily="49" charset="0"/>
                <a:cs typeface="Cascadia Code" panose="020B0609020000020004" pitchFamily="49" charset="0"/>
              </a:rPr>
              <a:t>': (200, 100, 50)</a:t>
            </a:r>
          </a:p>
          <a:p>
            <a:r>
              <a:rPr lang="pt-BR" sz="1600" i="0" dirty="0"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pt-BR" sz="1600" i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learning_rate</a:t>
            </a:r>
            <a:r>
              <a:rPr lang="pt-BR" sz="1600" i="0" dirty="0">
                <a:latin typeface="Cascadia Code" panose="020B0609020000020004" pitchFamily="49" charset="0"/>
                <a:cs typeface="Cascadia Code" panose="020B0609020000020004" pitchFamily="49" charset="0"/>
              </a:rPr>
              <a:t>': '</a:t>
            </a:r>
            <a:r>
              <a:rPr lang="pt-BR" sz="1600" i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constant</a:t>
            </a:r>
            <a:r>
              <a:rPr lang="pt-BR" sz="1600" i="0" dirty="0">
                <a:latin typeface="Cascadia Code" panose="020B0609020000020004" pitchFamily="49" charset="0"/>
                <a:cs typeface="Cascadia Code" panose="020B0609020000020004" pitchFamily="49" charset="0"/>
              </a:rPr>
              <a:t>’,</a:t>
            </a:r>
          </a:p>
          <a:p>
            <a:r>
              <a:rPr lang="pt-BR" sz="1600" i="0" dirty="0"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pt-BR" sz="1600" i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max_iter</a:t>
            </a:r>
            <a:r>
              <a:rPr lang="pt-BR" sz="1600" i="0" dirty="0">
                <a:latin typeface="Cascadia Code" panose="020B0609020000020004" pitchFamily="49" charset="0"/>
                <a:cs typeface="Cascadia Code" panose="020B0609020000020004" pitchFamily="49" charset="0"/>
              </a:rPr>
              <a:t>': 400,</a:t>
            </a:r>
          </a:p>
          <a:p>
            <a:r>
              <a:rPr lang="pt-BR" sz="1600" i="0" dirty="0">
                <a:latin typeface="Cascadia Code" panose="020B0609020000020004" pitchFamily="49" charset="0"/>
                <a:cs typeface="Cascadia Code" panose="020B0609020000020004" pitchFamily="49" charset="0"/>
              </a:rPr>
              <a:t>'solver': 'adam'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579578C-74CE-4E01-84F4-08D498F71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726" y="1464732"/>
            <a:ext cx="6002874" cy="514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228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95E41-FE1F-4763-952E-2CDE0473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8933"/>
          </a:xfrm>
        </p:spPr>
        <p:txBody>
          <a:bodyPr/>
          <a:lstStyle/>
          <a:p>
            <a:r>
              <a:rPr lang="pt-BR" dirty="0"/>
              <a:t>COMBINAÇÃO DOS CLASSIFICADORES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CDE035-08DA-4B13-BFF8-094B1E390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464732"/>
            <a:ext cx="3818468" cy="5043140"/>
          </a:xfrm>
        </p:spPr>
        <p:txBody>
          <a:bodyPr>
            <a:normAutofit/>
          </a:bodyPr>
          <a:lstStyle/>
          <a:p>
            <a:r>
              <a:rPr lang="pt-BR" i="0" dirty="0" err="1">
                <a:latin typeface="Franklin Gothic Book (Corpo)"/>
              </a:rPr>
              <a:t>Voting</a:t>
            </a:r>
            <a:r>
              <a:rPr lang="pt-BR" i="0" dirty="0">
                <a:latin typeface="Franklin Gothic Book (Corpo)"/>
              </a:rPr>
              <a:t> </a:t>
            </a:r>
            <a:r>
              <a:rPr lang="pt-BR" i="0" dirty="0" err="1">
                <a:latin typeface="Franklin Gothic Book (Corpo)"/>
              </a:rPr>
              <a:t>Classifier</a:t>
            </a:r>
            <a:r>
              <a:rPr lang="pt-BR" dirty="0">
                <a:latin typeface="Franklin Gothic Book (Corpo)"/>
              </a:rPr>
              <a:t> (soft);</a:t>
            </a:r>
          </a:p>
          <a:p>
            <a:r>
              <a:rPr lang="pt-BR" dirty="0">
                <a:latin typeface="Franklin Gothic Book (Corpo)"/>
              </a:rPr>
              <a:t>Utiliza a média das classes para seleção;</a:t>
            </a:r>
          </a:p>
          <a:p>
            <a:r>
              <a:rPr lang="pt-BR" dirty="0">
                <a:latin typeface="Franklin Gothic Book (Corpo)"/>
              </a:rPr>
              <a:t>Devido ao não determinismo do MLP e SVM, obtivemos resultados entre </a:t>
            </a:r>
            <a:r>
              <a:rPr lang="pt-BR" b="1" dirty="0">
                <a:latin typeface="Franklin Gothic Book (Corpo)"/>
              </a:rPr>
              <a:t>84,81%</a:t>
            </a:r>
            <a:r>
              <a:rPr lang="pt-BR" dirty="0">
                <a:latin typeface="Franklin Gothic Book (Corpo)"/>
              </a:rPr>
              <a:t>  e </a:t>
            </a:r>
            <a:r>
              <a:rPr lang="pt-BR" b="1" dirty="0">
                <a:latin typeface="Franklin Gothic Book (Corpo)"/>
              </a:rPr>
              <a:t>87,31%</a:t>
            </a:r>
            <a:r>
              <a:rPr lang="pt-BR" dirty="0">
                <a:latin typeface="Franklin Gothic Book (Corpo)"/>
              </a:rPr>
              <a:t>;</a:t>
            </a:r>
          </a:p>
          <a:p>
            <a:endParaRPr lang="pt-BR" i="0" dirty="0">
              <a:latin typeface="Franklin Gothic Book (Corpo)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0EC4480-B5CA-4E79-B248-9F5714AC9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495" y="1540932"/>
            <a:ext cx="5888037" cy="5043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103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95E41-FE1F-4763-952E-2CDE0473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8933"/>
          </a:xfrm>
        </p:spPr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CDE035-08DA-4B13-BFF8-094B1E390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1464732"/>
            <a:ext cx="10261601" cy="2133601"/>
          </a:xfrm>
        </p:spPr>
        <p:txBody>
          <a:bodyPr>
            <a:normAutofit/>
          </a:bodyPr>
          <a:lstStyle/>
          <a:p>
            <a:r>
              <a:rPr lang="pt-BR" i="0" dirty="0">
                <a:latin typeface="Franklin Gothic Book (Corpo)"/>
              </a:rPr>
              <a:t>É mais eficiente utilizar a combinação de classificadores para esse caso;</a:t>
            </a:r>
          </a:p>
          <a:p>
            <a:r>
              <a:rPr lang="pt-BR" dirty="0">
                <a:latin typeface="Franklin Gothic Book (Corpo)"/>
              </a:rPr>
              <a:t>Mostrou melhores resultados, mesmo que pequenos;</a:t>
            </a:r>
          </a:p>
          <a:p>
            <a:r>
              <a:rPr lang="pt-BR" dirty="0">
                <a:latin typeface="Franklin Gothic Book (Corpo)"/>
              </a:rPr>
              <a:t>Classificação feita rapidamente (aproximadamente 3s);</a:t>
            </a:r>
          </a:p>
          <a:p>
            <a:endParaRPr lang="pt-BR" i="0" dirty="0">
              <a:latin typeface="Franklin Gothic Book (Corpo)"/>
            </a:endParaRPr>
          </a:p>
        </p:txBody>
      </p:sp>
    </p:spTree>
    <p:extLst>
      <p:ext uri="{BB962C8B-B14F-4D97-AF65-F5344CB8AC3E}">
        <p14:creationId xmlns:p14="http://schemas.microsoft.com/office/powerpoint/2010/main" val="3772252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95E41-FE1F-4763-952E-2CDE0473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554133"/>
          </a:xfrm>
        </p:spPr>
        <p:txBody>
          <a:bodyPr anchor="ctr">
            <a:normAutofit/>
          </a:bodyPr>
          <a:lstStyle/>
          <a:p>
            <a:pPr algn="ctr"/>
            <a:r>
              <a:rPr lang="pt-BR" sz="16600" dirty="0">
                <a:latin typeface="Candara Light" panose="020E0502030303020204" pitchFamily="34" charset="0"/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2931179536"/>
      </p:ext>
    </p:extLst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{C848CB93-6FAA-46C3-9C7A-1EF1771C874C}TFc3084226-2d0c-440f-9f46-6b48c7a7f6702f1ae8ee-a396ae1b098f</Template>
  <TotalTime>95</TotalTime>
  <Words>470</Words>
  <Application>Microsoft Office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Candara Light</vt:lpstr>
      <vt:lpstr>Cascadia Code</vt:lpstr>
      <vt:lpstr>Franklin Gothic Book</vt:lpstr>
      <vt:lpstr>Franklin Gothic Book (Corpo)</vt:lpstr>
      <vt:lpstr>Times</vt:lpstr>
      <vt:lpstr>Cortar</vt:lpstr>
      <vt:lpstr>Trabalho Final inteligência computacional</vt:lpstr>
      <vt:lpstr>DATASET: SIMPSONS</vt:lpstr>
      <vt:lpstr>Apresentação do PowerPoint</vt:lpstr>
      <vt:lpstr>BASELINE</vt:lpstr>
      <vt:lpstr>EXTRAÇÃO DE CARACTERÍSTICAS</vt:lpstr>
      <vt:lpstr>EXTRAÇÃO DE CARACTERÍSTICAS</vt:lpstr>
      <vt:lpstr>TREINAMENTO</vt:lpstr>
      <vt:lpstr>TREINAMENTO</vt:lpstr>
      <vt:lpstr>COMBINAÇÃO DOS CLASSIFICADORES</vt:lpstr>
      <vt:lpstr>CONCLUSÃO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Final inteligência computacional</dc:title>
  <dc:creator>Eduardo</dc:creator>
  <cp:lastModifiedBy>Eduardo</cp:lastModifiedBy>
  <cp:revision>9</cp:revision>
  <dcterms:created xsi:type="dcterms:W3CDTF">2025-11-25T01:04:35Z</dcterms:created>
  <dcterms:modified xsi:type="dcterms:W3CDTF">2025-11-29T17:44:36Z</dcterms:modified>
</cp:coreProperties>
</file>